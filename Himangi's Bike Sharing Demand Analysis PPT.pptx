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MANGI%20CHIRAG\Documents\Himangi's%20NHIS%20Project%20Excel%20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MANGI%20CHIRAG\Documents\Himangi's%20NHIS%20Project%20Excel%20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MANGI%20CHIRAG\Documents\Himangi's%20NHIS%20Project%20Excel%20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[Himangi's NHIS Project Excel Sheet.xlsx]Rent as Hour!PivotTable2</c:name>
    <c:fmtId val="12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shade val="76000"/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shade val="76000"/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circle"/>
          <c:size val="4"/>
          <c:spPr>
            <a:solidFill>
              <a:schemeClr val="accent2">
                <a:tint val="77000"/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2">
                  <a:tint val="77000"/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'Rent as Hour'!$A$3</c:f>
              <c:strCache>
                <c:ptCount val="1"/>
                <c:pt idx="0">
                  <c:v>Sum of Hour</c:v>
                </c:pt>
              </c:strCache>
            </c:strRef>
          </c:tx>
          <c:spPr>
            <a:noFill/>
            <a:ln w="9525" cap="flat" cmpd="sng" algn="ctr">
              <a:solidFill>
                <a:schemeClr val="accent2">
                  <a:shade val="76000"/>
                </a:schemeClr>
              </a:solidFill>
              <a:miter lim="800000"/>
            </a:ln>
            <a:effectLst>
              <a:glow rad="63500">
                <a:schemeClr val="accent2">
                  <a:shade val="76000"/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'Rent as Hour'!$A$4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'Rent as Hour'!$A$4</c:f>
              <c:numCache>
                <c:formatCode>General</c:formatCode>
                <c:ptCount val="1"/>
                <c:pt idx="0">
                  <c:v>11753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9B-402D-9823-4791367830BE}"/>
            </c:ext>
          </c:extLst>
        </c:ser>
        <c:ser>
          <c:idx val="1"/>
          <c:order val="1"/>
          <c:tx>
            <c:strRef>
              <c:f>'Rent as Hour'!$B$3</c:f>
              <c:strCache>
                <c:ptCount val="1"/>
                <c:pt idx="0">
                  <c:v>Sum of Rent</c:v>
                </c:pt>
              </c:strCache>
            </c:strRef>
          </c:tx>
          <c:spPr>
            <a:noFill/>
            <a:ln w="9525" cap="flat" cmpd="sng" algn="ctr">
              <a:solidFill>
                <a:schemeClr val="accent2">
                  <a:tint val="77000"/>
                </a:schemeClr>
              </a:solidFill>
              <a:miter lim="800000"/>
            </a:ln>
            <a:effectLst>
              <a:glow rad="63500">
                <a:schemeClr val="accent2">
                  <a:tint val="77000"/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'Rent as Hour'!$A$4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'Rent as Hour'!$B$4</c:f>
              <c:numCache>
                <c:formatCode>General</c:formatCode>
                <c:ptCount val="1"/>
                <c:pt idx="0">
                  <c:v>58304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9B-402D-9823-4791367830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256430120"/>
        <c:axId val="493936824"/>
      </c:barChart>
      <c:catAx>
        <c:axId val="25643012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3936824"/>
        <c:crosses val="autoZero"/>
        <c:auto val="1"/>
        <c:lblAlgn val="ctr"/>
        <c:lblOffset val="100"/>
        <c:noMultiLvlLbl val="0"/>
      </c:catAx>
      <c:valAx>
        <c:axId val="49393682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430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[Himangi's NHIS Project Excel Sheet.xlsx]Rent on Holiday and Weather!PivotTable3</c:name>
    <c:fmtId val="8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013648293963254"/>
          <c:y val="0.17953484981044035"/>
          <c:w val="0.60996937882764657"/>
          <c:h val="0.658530912802566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'Rent on Holiday and Weather'!$B$3</c:f>
              <c:strCache>
                <c:ptCount val="1"/>
                <c:pt idx="0">
                  <c:v>Sum of Weathersit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satMod val="110000"/>
                    <a:lumMod val="104000"/>
                  </a:schemeClr>
                </a:gs>
                <a:gs pos="69000">
                  <a:schemeClr val="accent1">
                    <a:shade val="88000"/>
                    <a:satMod val="130000"/>
                    <a:lumMod val="92000"/>
                  </a:schemeClr>
                </a:gs>
                <a:gs pos="100000">
                  <a:schemeClr val="accent1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50800" dir="5400000" sx="96000" sy="96000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'Rent on Holiday and Weather'!$A$4:$A$6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'Rent on Holiday and Weather'!$B$4:$B$6</c:f>
              <c:numCache>
                <c:formatCode>General</c:formatCode>
                <c:ptCount val="2"/>
                <c:pt idx="0">
                  <c:v>1428</c:v>
                </c:pt>
                <c:pt idx="1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2C-4A38-87A4-CD5FDFAE05D0}"/>
            </c:ext>
          </c:extLst>
        </c:ser>
        <c:ser>
          <c:idx val="1"/>
          <c:order val="1"/>
          <c:tx>
            <c:strRef>
              <c:f>'Rent on Holiday and Weather'!$C$3</c:f>
              <c:strCache>
                <c:ptCount val="1"/>
                <c:pt idx="0">
                  <c:v>Sum of Rent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8000"/>
                    <a:satMod val="110000"/>
                    <a:lumMod val="104000"/>
                  </a:schemeClr>
                </a:gs>
                <a:gs pos="69000">
                  <a:schemeClr val="accent2">
                    <a:shade val="88000"/>
                    <a:satMod val="130000"/>
                    <a:lumMod val="92000"/>
                  </a:schemeClr>
                </a:gs>
                <a:gs pos="100000">
                  <a:schemeClr val="accent2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50800" dir="5400000" sx="96000" sy="96000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'Rent on Holiday and Weather'!$A$4:$A$6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'Rent on Holiday and Weather'!$C$4:$C$6</c:f>
              <c:numCache>
                <c:formatCode>General</c:formatCode>
                <c:ptCount val="2"/>
                <c:pt idx="0">
                  <c:v>57304</c:v>
                </c:pt>
                <c:pt idx="1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2C-4A38-87A4-CD5FDFAE0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87337688"/>
        <c:axId val="1087335224"/>
      </c:barChart>
      <c:catAx>
        <c:axId val="1087337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7335224"/>
        <c:crosses val="autoZero"/>
        <c:auto val="1"/>
        <c:lblAlgn val="ctr"/>
        <c:lblOffset val="100"/>
        <c:noMultiLvlLbl val="0"/>
      </c:catAx>
      <c:valAx>
        <c:axId val="1087335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7337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[Himangi's NHIS Project Excel Sheet.xlsx]Registeration Data!PivotTable4</c:name>
    <c:fmtId val="1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'Registeration Data'!$H$6</c:f>
              <c:strCache>
                <c:ptCount val="1"/>
                <c:pt idx="0">
                  <c:v>Sum of Season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satMod val="110000"/>
                    <a:lumMod val="104000"/>
                  </a:schemeClr>
                </a:gs>
                <a:gs pos="69000">
                  <a:schemeClr val="accent1">
                    <a:shade val="88000"/>
                    <a:satMod val="130000"/>
                    <a:lumMod val="92000"/>
                  </a:schemeClr>
                </a:gs>
                <a:gs pos="100000">
                  <a:schemeClr val="accent1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50800" dir="5400000" sx="96000" sy="96000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'Registeration Data'!$H$7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'Registeration Data'!$H$7</c:f>
              <c:numCache>
                <c:formatCode>General</c:formatCode>
                <c:ptCount val="1"/>
                <c:pt idx="0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1-4C04-82B6-41D98EB2AD4E}"/>
            </c:ext>
          </c:extLst>
        </c:ser>
        <c:ser>
          <c:idx val="1"/>
          <c:order val="1"/>
          <c:tx>
            <c:strRef>
              <c:f>'Registeration Data'!$I$6</c:f>
              <c:strCache>
                <c:ptCount val="1"/>
                <c:pt idx="0">
                  <c:v>Sum of Tempreture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8000"/>
                    <a:satMod val="110000"/>
                    <a:lumMod val="104000"/>
                  </a:schemeClr>
                </a:gs>
                <a:gs pos="69000">
                  <a:schemeClr val="accent2">
                    <a:shade val="88000"/>
                    <a:satMod val="130000"/>
                    <a:lumMod val="92000"/>
                  </a:schemeClr>
                </a:gs>
                <a:gs pos="100000">
                  <a:schemeClr val="accent2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50800" dir="5400000" sx="96000" sy="96000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'Registeration Data'!$H$7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'Registeration Data'!$I$7</c:f>
              <c:numCache>
                <c:formatCode>General</c:formatCode>
                <c:ptCount val="1"/>
                <c:pt idx="0">
                  <c:v>205.89999999999961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B1-4C04-82B6-41D98EB2AD4E}"/>
            </c:ext>
          </c:extLst>
        </c:ser>
        <c:ser>
          <c:idx val="2"/>
          <c:order val="2"/>
          <c:tx>
            <c:strRef>
              <c:f>'Registeration Data'!$J$6</c:f>
              <c:strCache>
                <c:ptCount val="1"/>
                <c:pt idx="0">
                  <c:v>Sum of Avg Temp.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8000"/>
                    <a:satMod val="110000"/>
                    <a:lumMod val="104000"/>
                  </a:schemeClr>
                </a:gs>
                <a:gs pos="69000">
                  <a:schemeClr val="accent3">
                    <a:shade val="88000"/>
                    <a:satMod val="130000"/>
                    <a:lumMod val="92000"/>
                  </a:schemeClr>
                </a:gs>
                <a:gs pos="100000">
                  <a:schemeClr val="accent3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50800" dir="5400000" sx="96000" sy="96000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'Registeration Data'!$H$7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'Registeration Data'!$J$7</c:f>
              <c:numCache>
                <c:formatCode>General</c:formatCode>
                <c:ptCount val="1"/>
                <c:pt idx="0">
                  <c:v>209.62630000000055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B1-4C04-82B6-41D98EB2AD4E}"/>
            </c:ext>
          </c:extLst>
        </c:ser>
        <c:ser>
          <c:idx val="3"/>
          <c:order val="3"/>
          <c:tx>
            <c:strRef>
              <c:f>'Registeration Data'!$K$6</c:f>
              <c:strCache>
                <c:ptCount val="1"/>
                <c:pt idx="0">
                  <c:v>Sum of Windspeed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8000"/>
                    <a:satMod val="110000"/>
                    <a:lumMod val="104000"/>
                  </a:schemeClr>
                </a:gs>
                <a:gs pos="69000">
                  <a:schemeClr val="accent4">
                    <a:shade val="88000"/>
                    <a:satMod val="130000"/>
                    <a:lumMod val="92000"/>
                  </a:schemeClr>
                </a:gs>
                <a:gs pos="100000">
                  <a:schemeClr val="accent4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50800" dir="5400000" sx="96000" sy="96000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'Registeration Data'!$H$7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'Registeration Data'!$K$7</c:f>
              <c:numCache>
                <c:formatCode>General</c:formatCode>
                <c:ptCount val="1"/>
                <c:pt idx="0">
                  <c:v>194.93129999999903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B1-4C04-82B6-41D98EB2AD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87340152"/>
        <c:axId val="1087342264"/>
      </c:barChart>
      <c:catAx>
        <c:axId val="1087340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7342264"/>
        <c:crosses val="autoZero"/>
        <c:auto val="1"/>
        <c:lblAlgn val="ctr"/>
        <c:lblOffset val="100"/>
        <c:noMultiLvlLbl val="0"/>
      </c:catAx>
      <c:valAx>
        <c:axId val="1087342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734015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91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71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960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91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161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99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5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3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391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838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182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CC1AE-A5D3-422F-9367-29B664BB793F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CC43A1D-5FA1-4216-9052-1376D820EA9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15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7DDF-C104-458B-59B2-A7A2C7129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Bike Sharing Demand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9B83B-B9EA-7F5D-44E5-D2199C783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Himangi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53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7F9B-A698-12DD-9234-7BE6B632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Bike Sharing Demand Data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EE913-9443-7C4E-FA18-E85AC2306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/>
          <a:lstStyle/>
          <a:p>
            <a:r>
              <a:rPr lang="en-US" dirty="0"/>
              <a:t>Bike Sharing Demand Data set includes evaluation usage table like Temperature, Hour, Windspeed, Weather and Casual, Weekly, Holiday Riders.</a:t>
            </a:r>
          </a:p>
          <a:p>
            <a:r>
              <a:rPr lang="en-US" dirty="0"/>
              <a:t>On the basis of Segment, Environmental Factors and Trend shows in the charts.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India's First All-Women Motorcycle Riders Team Will Make History In the Himalayas Starting Today ">
            <a:extLst>
              <a:ext uri="{FF2B5EF4-FFF2-40B4-BE49-F238E27FC236}">
                <a16:creationId xmlns:a16="http://schemas.microsoft.com/office/drawing/2014/main" id="{854EC4ED-CC5A-E3B6-FAB7-0DC69459D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429000"/>
            <a:ext cx="457200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713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F7D0-9E0D-48FE-C878-49A6C325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Rent as per hourly Basis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95D155-08CD-447C-8585-FE90C1A5CD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220705"/>
              </p:ext>
            </p:extLst>
          </p:nvPr>
        </p:nvGraphicFramePr>
        <p:xfrm>
          <a:off x="1450975" y="2982351"/>
          <a:ext cx="7130317" cy="2483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0C06FE-5AC3-7FA1-8705-436F78C95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960461"/>
              </p:ext>
            </p:extLst>
          </p:nvPr>
        </p:nvGraphicFramePr>
        <p:xfrm>
          <a:off x="1562100" y="2146300"/>
          <a:ext cx="2108200" cy="58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221">
                  <a:extLst>
                    <a:ext uri="{9D8B030D-6E8A-4147-A177-3AD203B41FA5}">
                      <a16:colId xmlns:a16="http://schemas.microsoft.com/office/drawing/2014/main" val="4065650737"/>
                    </a:ext>
                  </a:extLst>
                </a:gridCol>
                <a:gridCol w="1051979">
                  <a:extLst>
                    <a:ext uri="{9D8B030D-6E8A-4147-A177-3AD203B41FA5}">
                      <a16:colId xmlns:a16="http://schemas.microsoft.com/office/drawing/2014/main" val="274466293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Hour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8047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11753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58304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4454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38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AC75-1F9D-703D-4371-79153F07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Rent as per Weather and Holiday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BB4EC7-1B92-0159-A05C-14A6DB869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51635"/>
              </p:ext>
            </p:extLst>
          </p:nvPr>
        </p:nvGraphicFramePr>
        <p:xfrm>
          <a:off x="2030412" y="2092546"/>
          <a:ext cx="28575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400876517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029328676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8646626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Weathersit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63194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FALSE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1428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57304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4415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TRUE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1496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1480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58304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953963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78B9BE-0F4C-5A69-23C5-185B5D72AC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5589334"/>
              </p:ext>
            </p:extLst>
          </p:nvPr>
        </p:nvGraphicFramePr>
        <p:xfrm>
          <a:off x="1857188" y="3093338"/>
          <a:ext cx="454062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7218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87AC-E75E-D4D6-D920-2A2E83D7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Registration on the basis Season, Temperature &amp; Windspeed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38AC7E-D446-7EB2-B4F4-CF3ACB69B1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026669"/>
              </p:ext>
            </p:extLst>
          </p:nvPr>
        </p:nvGraphicFramePr>
        <p:xfrm>
          <a:off x="1451578" y="2182018"/>
          <a:ext cx="4644422" cy="5103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71">
                  <a:extLst>
                    <a:ext uri="{9D8B030D-6E8A-4147-A177-3AD203B41FA5}">
                      <a16:colId xmlns:a16="http://schemas.microsoft.com/office/drawing/2014/main" val="2485415331"/>
                    </a:ext>
                  </a:extLst>
                </a:gridCol>
                <a:gridCol w="1267254">
                  <a:extLst>
                    <a:ext uri="{9D8B030D-6E8A-4147-A177-3AD203B41FA5}">
                      <a16:colId xmlns:a16="http://schemas.microsoft.com/office/drawing/2014/main" val="3323166234"/>
                    </a:ext>
                  </a:extLst>
                </a:gridCol>
                <a:gridCol w="1166005">
                  <a:extLst>
                    <a:ext uri="{9D8B030D-6E8A-4147-A177-3AD203B41FA5}">
                      <a16:colId xmlns:a16="http://schemas.microsoft.com/office/drawing/2014/main" val="434689705"/>
                    </a:ext>
                  </a:extLst>
                </a:gridCol>
                <a:gridCol w="1244392">
                  <a:extLst>
                    <a:ext uri="{9D8B030D-6E8A-4147-A177-3AD203B41FA5}">
                      <a16:colId xmlns:a16="http://schemas.microsoft.com/office/drawing/2014/main" val="650284434"/>
                    </a:ext>
                  </a:extLst>
                </a:gridCol>
              </a:tblGrid>
              <a:tr h="2551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Season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Tempreture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Avg Temp.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Windspeed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9898673"/>
                  </a:ext>
                </a:extLst>
              </a:tr>
              <a:tr h="25519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205.9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209.6263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194.9313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9527056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F89B8FF-727B-4FD8-8D59-E8E88C62C9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1938013"/>
              </p:ext>
            </p:extLst>
          </p:nvPr>
        </p:nvGraphicFramePr>
        <p:xfrm>
          <a:off x="1451578" y="3096420"/>
          <a:ext cx="5805488" cy="2138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359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PT Template and Google Slides Themes">
            <a:extLst>
              <a:ext uri="{FF2B5EF4-FFF2-40B4-BE49-F238E27FC236}">
                <a16:creationId xmlns:a16="http://schemas.microsoft.com/office/drawing/2014/main" id="{FEAA6554-D653-5129-09E6-450084D4E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316736"/>
            <a:ext cx="6565900" cy="3471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03465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</TotalTime>
  <Words>116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Gallery</vt:lpstr>
      <vt:lpstr>Bike Sharing Demand Analysis</vt:lpstr>
      <vt:lpstr>Bike Sharing Demand Data Set</vt:lpstr>
      <vt:lpstr>Rent as per hourly Basis</vt:lpstr>
      <vt:lpstr>Rent as per Weather and Holiday</vt:lpstr>
      <vt:lpstr>Registration on the basis Season, Temperature &amp; Windspeed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HIMANGI CHIRAG</dc:creator>
  <cp:lastModifiedBy>HIMANGI CHIRAG</cp:lastModifiedBy>
  <cp:revision>1</cp:revision>
  <dcterms:created xsi:type="dcterms:W3CDTF">2026-05-25T12:10:57Z</dcterms:created>
  <dcterms:modified xsi:type="dcterms:W3CDTF">2026-05-25T12:37:46Z</dcterms:modified>
</cp:coreProperties>
</file>